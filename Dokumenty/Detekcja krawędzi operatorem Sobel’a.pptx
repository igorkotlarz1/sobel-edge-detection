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kcja domyślna" id="{A96E6144-96A6-4FF3-879D-907E53D2ACC2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01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76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31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2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843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13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21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504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475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275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55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uihBwtPIBxM&amp;list=PLGsiKe4eNSZBFNvj6fhi2jfzTkMKpzB-B&amp;index=6" TargetMode="External"/><Relationship Id="rId3" Type="http://schemas.openxmlformats.org/officeDocument/2006/relationships/hyperlink" Target="https://wmii.uwm.edu.pl/~mario/jsmallfib_top/upload/wdgm/zestaw10.pdf" TargetMode="External"/><Relationship Id="rId7" Type="http://schemas.openxmlformats.org/officeDocument/2006/relationships/hyperlink" Target="https://www.youtube.com/watch?v=lOEBsQodtEQ&amp;list=PLGsiKe4eNSZBFNvj6fhi2jfzTkMKpzB-B&amp;index=9" TargetMode="External"/><Relationship Id="rId2" Type="http://schemas.openxmlformats.org/officeDocument/2006/relationships/hyperlink" Target="https://en.wikipedia.org/wiki/Sobel_operato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rsyed.com/2018/02/18/edge-detection-in-images-how-to-derive-the-sobel-operator/" TargetMode="External"/><Relationship Id="rId5" Type="http://schemas.openxmlformats.org/officeDocument/2006/relationships/hyperlink" Target="https://medium.com/analytics-vidhya/sobel-edge-filter-daf07a462ff4" TargetMode="External"/><Relationship Id="rId4" Type="http://schemas.openxmlformats.org/officeDocument/2006/relationships/hyperlink" Target="https://home.agh.edu.pl/~dwornik/2023_IAD_Obrazy/AiPOC_03_filtracj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227C270-4EF6-263E-0EA1-8A08543C7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pl-PL" dirty="0"/>
              <a:t>Detekcja krawędzi operatorem </a:t>
            </a:r>
            <a:r>
              <a:rPr lang="pl-PL" dirty="0" err="1"/>
              <a:t>Sobel’a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C483EB6-D648-5B3B-A811-F79D85944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4785543"/>
            <a:ext cx="5322013" cy="1005657"/>
          </a:xfrm>
        </p:spPr>
        <p:txBody>
          <a:bodyPr>
            <a:normAutofit/>
          </a:bodyPr>
          <a:lstStyle/>
          <a:p>
            <a:r>
              <a:rPr lang="pl-PL" dirty="0"/>
              <a:t>Igor Kotlarz</a:t>
            </a:r>
          </a:p>
          <a:p>
            <a:r>
              <a:rPr lang="pl-PL" dirty="0"/>
              <a:t>Języki Asemblerowe - Projekt</a:t>
            </a:r>
          </a:p>
        </p:txBody>
      </p:sp>
      <p:pic>
        <p:nvPicPr>
          <p:cNvPr id="4" name="Picture 3" descr="Obraz zawierający wzór&#10;&#10;Zawartość wygenerowana przez AI może być niepoprawna.">
            <a:extLst>
              <a:ext uri="{FF2B5EF4-FFF2-40B4-BE49-F238E27FC236}">
                <a16:creationId xmlns:a16="http://schemas.microsoft.com/office/drawing/2014/main" id="{8379FEDE-E808-31F7-CAB8-232446FDD6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561" r="37950" b="2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137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ytuł 3">
            <a:extLst>
              <a:ext uri="{FF2B5EF4-FFF2-40B4-BE49-F238E27FC236}">
                <a16:creationId xmlns:a16="http://schemas.microsoft.com/office/drawing/2014/main" id="{1D99B43F-01E6-8CC8-EAF5-6876A59DD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5958216" cy="1316736"/>
          </a:xfrm>
        </p:spPr>
        <p:txBody>
          <a:bodyPr>
            <a:normAutofit/>
          </a:bodyPr>
          <a:lstStyle/>
          <a:p>
            <a:r>
              <a:rPr lang="pl-PL" dirty="0" err="1"/>
              <a:t>Opeartor</a:t>
            </a:r>
            <a:r>
              <a:rPr lang="pl-PL" dirty="0"/>
              <a:t> </a:t>
            </a:r>
            <a:r>
              <a:rPr lang="pl-PL" dirty="0" err="1"/>
              <a:t>sobel’a</a:t>
            </a:r>
            <a:endParaRPr lang="pl-PL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99A8EBD-049C-48E6-97ED-C9102D78F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2376"/>
            <a:ext cx="5715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ymbol zastępczy zawartości 4">
            <a:extLst>
              <a:ext uri="{FF2B5EF4-FFF2-40B4-BE49-F238E27FC236}">
                <a16:creationId xmlns:a16="http://schemas.microsoft.com/office/drawing/2014/main" id="{A6708066-3D7B-5061-0FA0-DDDCAAC68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35251"/>
            <a:ext cx="5958216" cy="3713109"/>
          </a:xfrm>
        </p:spPr>
        <p:txBody>
          <a:bodyPr>
            <a:normAutofit/>
          </a:bodyPr>
          <a:lstStyle/>
          <a:p>
            <a:r>
              <a:rPr lang="pl-PL" b="1" dirty="0"/>
              <a:t>Operator (filtr) </a:t>
            </a:r>
            <a:r>
              <a:rPr lang="pl-PL" b="1" dirty="0" err="1"/>
              <a:t>Sobel’a</a:t>
            </a:r>
            <a:r>
              <a:rPr lang="pl-PL" dirty="0"/>
              <a:t>, znany również jako operator </a:t>
            </a:r>
            <a:r>
              <a:rPr lang="pl-PL" dirty="0" err="1"/>
              <a:t>Sobel’a-Feldman’a</a:t>
            </a:r>
            <a:r>
              <a:rPr lang="pl-PL" dirty="0"/>
              <a:t> został opracowany w 1968 roku na Uniwersytecie Stanforda przez </a:t>
            </a:r>
            <a:r>
              <a:rPr lang="pl-PL" b="1" dirty="0"/>
              <a:t>Irwina </a:t>
            </a:r>
            <a:r>
              <a:rPr lang="pl-PL" b="1" dirty="0" err="1"/>
              <a:t>Sobel’a</a:t>
            </a:r>
            <a:r>
              <a:rPr lang="pl-PL" b="1" dirty="0"/>
              <a:t> </a:t>
            </a:r>
            <a:r>
              <a:rPr lang="pl-PL" dirty="0"/>
              <a:t>oraz </a:t>
            </a:r>
            <a:r>
              <a:rPr lang="pl-PL" b="1" dirty="0" err="1"/>
              <a:t>Gary’ego</a:t>
            </a:r>
            <a:r>
              <a:rPr lang="pl-PL" b="1" dirty="0"/>
              <a:t> M. </a:t>
            </a:r>
            <a:r>
              <a:rPr lang="pl-PL" b="1" dirty="0" err="1"/>
              <a:t>Feldman’a</a:t>
            </a:r>
            <a:r>
              <a:rPr lang="pl-PL" dirty="0"/>
              <a:t>. Metoda ta powstała w </a:t>
            </a:r>
            <a:r>
              <a:rPr lang="pl-PL" b="1" dirty="0"/>
              <a:t>Stanford </a:t>
            </a:r>
            <a:r>
              <a:rPr lang="pl-PL" b="1" dirty="0" err="1"/>
              <a:t>Artificial</a:t>
            </a:r>
            <a:r>
              <a:rPr lang="pl-PL" b="1" dirty="0"/>
              <a:t> </a:t>
            </a:r>
            <a:r>
              <a:rPr lang="pl-PL" b="1" dirty="0" err="1"/>
              <a:t>Intelligence</a:t>
            </a:r>
            <a:r>
              <a:rPr lang="pl-PL" b="1" dirty="0"/>
              <a:t> </a:t>
            </a:r>
            <a:r>
              <a:rPr lang="pl-PL" b="1" dirty="0" err="1"/>
              <a:t>Laboratory</a:t>
            </a:r>
            <a:r>
              <a:rPr lang="pl-PL" b="1" dirty="0"/>
              <a:t> </a:t>
            </a:r>
            <a:r>
              <a:rPr lang="pl-PL" dirty="0"/>
              <a:t>(SAIL) i od tego czasu stała się szeroko wykorzystywana w dziedzinie image </a:t>
            </a:r>
            <a:r>
              <a:rPr lang="pl-PL" dirty="0" err="1"/>
              <a:t>processing’u</a:t>
            </a:r>
            <a:r>
              <a:rPr lang="pl-PL" dirty="0"/>
              <a:t> oraz wizji komputerowej do detekcji krawędzi.</a:t>
            </a:r>
          </a:p>
        </p:txBody>
      </p:sp>
      <p:pic>
        <p:nvPicPr>
          <p:cNvPr id="15" name="Obraz 14" descr="Obraz zawierający osoba, Ludzka twarz, na wolnym powietrzu, niebo&#10;&#10;Zawartość wygenerowana przez AI może być niepoprawna.">
            <a:extLst>
              <a:ext uri="{FF2B5EF4-FFF2-40B4-BE49-F238E27FC236}">
                <a16:creationId xmlns:a16="http://schemas.microsoft.com/office/drawing/2014/main" id="{3B9EE612-8036-04ED-88BF-7C92B97FC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358" y="3429000"/>
            <a:ext cx="2551117" cy="2596557"/>
          </a:xfrm>
          <a:prstGeom prst="rect">
            <a:avLst/>
          </a:prstGeom>
        </p:spPr>
      </p:pic>
      <p:cxnSp>
        <p:nvCxnSpPr>
          <p:cNvPr id="30" name="Straight Connector 25">
            <a:extLst>
              <a:ext uri="{FF2B5EF4-FFF2-40B4-BE49-F238E27FC236}">
                <a16:creationId xmlns:a16="http://schemas.microsoft.com/office/drawing/2014/main" id="{07AB7C5C-C091-4C25-B1BD-93E2F694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8546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Obraz 16" descr="Obraz zawierający osoba, Ludzka twarz, ubrania, uśmiech&#10;&#10;Zawartość wygenerowana przez AI może być niepoprawna.">
            <a:extLst>
              <a:ext uri="{FF2B5EF4-FFF2-40B4-BE49-F238E27FC236}">
                <a16:creationId xmlns:a16="http://schemas.microsoft.com/office/drawing/2014/main" id="{B4E84E9C-2226-4409-2723-CAD16FF1E5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624" y="780160"/>
            <a:ext cx="2535851" cy="253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933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CC99FBB0-3E87-D053-97B1-6A2697357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pl-PL" sz="2800"/>
              <a:t>Podstawy matematyczne działania filtru oraz detekcji krawędzi</a:t>
            </a:r>
          </a:p>
        </p:txBody>
      </p:sp>
      <p:cxnSp>
        <p:nvCxnSpPr>
          <p:cNvPr id="17" name="Straight Connector 11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D074AD-DC85-3632-0802-6465E0895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1400" b="1" dirty="0"/>
              <a:t>Czym tak naprawdę jest obraz w sensie matematycznym? </a:t>
            </a:r>
            <a:r>
              <a:rPr lang="pl-PL" sz="1400" dirty="0"/>
              <a:t>– Funkcja intensywności dwóch zmiennych </a:t>
            </a:r>
            <a:r>
              <a:rPr lang="pl-PL" sz="1400" b="1" dirty="0"/>
              <a:t>I (x, y) </a:t>
            </a:r>
            <a:r>
              <a:rPr lang="pl-PL" sz="1400" dirty="0"/>
              <a:t>wyznaczająca jasność każdego piksela w zakresie 0 – 255, gdzie 0 interpretujemy jako czysta czerń, a 255 jako czysta biel.</a:t>
            </a:r>
          </a:p>
          <a:p>
            <a:pPr>
              <a:lnSpc>
                <a:spcPct val="100000"/>
              </a:lnSpc>
            </a:pPr>
            <a:r>
              <a:rPr lang="pl-PL" sz="1400" b="1" dirty="0"/>
              <a:t>Czym jest krawędź w obrazie?</a:t>
            </a:r>
            <a:r>
              <a:rPr lang="pl-PL" sz="1400" dirty="0"/>
              <a:t> – Obszar, na którym wartość funkcji intensywności zmienia się gwałtownie (skok jasności pikseli w obrazie – z ciemnych na jasne lub odwrotnie).</a:t>
            </a:r>
          </a:p>
          <a:p>
            <a:pPr>
              <a:lnSpc>
                <a:spcPct val="100000"/>
              </a:lnSpc>
            </a:pPr>
            <a:r>
              <a:rPr lang="pl-PL" sz="1400" b="1" dirty="0"/>
              <a:t>Jakie zastosowanie mają pierwsze pochodne funkcji intensywności oraz gradient w detekcji krawędzi? </a:t>
            </a:r>
            <a:r>
              <a:rPr lang="pl-PL" sz="1400" dirty="0"/>
              <a:t>– Pochodne cząstkowe funkcji intensywności opisują tempo zmian tej funkcji, co za tym idzie są przydatnym narzędziem do detekcji krawędzi. </a:t>
            </a:r>
          </a:p>
          <a:p>
            <a:pPr>
              <a:lnSpc>
                <a:spcPct val="100000"/>
              </a:lnSpc>
            </a:pPr>
            <a:r>
              <a:rPr lang="pl-PL" sz="1400" dirty="0"/>
              <a:t> </a:t>
            </a:r>
            <a:r>
              <a:rPr lang="pl-PL" sz="1400" b="1" dirty="0"/>
              <a:t>Gradient</a:t>
            </a:r>
            <a:r>
              <a:rPr lang="pl-PL" sz="1400" dirty="0"/>
              <a:t> to wektor złożony z obu pochodnych cząstkowych w każdym z kierunków, a długość gradientu mówi o wyrazistości krawędzi.</a:t>
            </a:r>
          </a:p>
          <a:p>
            <a:pPr>
              <a:lnSpc>
                <a:spcPct val="100000"/>
              </a:lnSpc>
            </a:pPr>
            <a:endParaRPr lang="pl-PL" sz="1400" dirty="0"/>
          </a:p>
        </p:txBody>
      </p:sp>
      <p:pic>
        <p:nvPicPr>
          <p:cNvPr id="5" name="Obraz 4" descr="Obraz zawierający diagram, szkic, design, Plan&#10;&#10;Zawartość wygenerowana przez AI może być niepoprawna.">
            <a:extLst>
              <a:ext uri="{FF2B5EF4-FFF2-40B4-BE49-F238E27FC236}">
                <a16:creationId xmlns:a16="http://schemas.microsoft.com/office/drawing/2014/main" id="{2DE288E0-7889-1EE5-86AB-04F41EDD0B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855" y="1966407"/>
            <a:ext cx="4202057" cy="3739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0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3615EE-C559-4E03-999B-5477F1626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18085D1C-F484-D3A2-F2EE-3DF83828B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7"/>
            <a:ext cx="6283419" cy="1316736"/>
          </a:xfrm>
        </p:spPr>
        <p:txBody>
          <a:bodyPr>
            <a:normAutofit/>
          </a:bodyPr>
          <a:lstStyle/>
          <a:p>
            <a:r>
              <a:rPr lang="pl-PL" dirty="0"/>
              <a:t>Podstawy działania algorytmu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AEDDB4C-6582-43D5-AF25-99F4AD3A1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A2E1B5D-7F37-BB0D-1F17-FEE5A200C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2226373"/>
            <a:ext cx="6283419" cy="372199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1700" b="1" dirty="0"/>
              <a:t>Operator </a:t>
            </a:r>
            <a:r>
              <a:rPr lang="pl-PL" sz="1700" b="1" dirty="0" err="1"/>
              <a:t>Sobel’a</a:t>
            </a:r>
            <a:r>
              <a:rPr lang="pl-PL" sz="1700" b="1" dirty="0"/>
              <a:t> </a:t>
            </a:r>
            <a:r>
              <a:rPr lang="pl-PL" sz="1700" dirty="0"/>
              <a:t>to </a:t>
            </a:r>
            <a:r>
              <a:rPr lang="pl-PL" sz="1700" b="1" dirty="0"/>
              <a:t>filtr gradientowy, </a:t>
            </a:r>
            <a:r>
              <a:rPr lang="pl-PL" sz="1700" dirty="0"/>
              <a:t>który przybliża pochodne cząstkowe funkcji intensywności obrazu w kierunkach X oraz Y. Najczęściej spotykany jest jako </a:t>
            </a:r>
            <a:r>
              <a:rPr lang="pl-PL" sz="1700" dirty="0" err="1"/>
              <a:t>kernel</a:t>
            </a:r>
            <a:r>
              <a:rPr lang="pl-PL" sz="1700" dirty="0"/>
              <a:t> o wymiarach 3x3, bądź 5x5.</a:t>
            </a:r>
          </a:p>
          <a:p>
            <a:pPr>
              <a:lnSpc>
                <a:spcPct val="100000"/>
              </a:lnSpc>
            </a:pPr>
            <a:r>
              <a:rPr lang="pl-PL" sz="1700" dirty="0"/>
              <a:t>Aby wykryć krawędzie musimy dokonać operacji </a:t>
            </a:r>
            <a:r>
              <a:rPr lang="pl-PL" sz="1700" b="1" dirty="0" err="1"/>
              <a:t>konwolucji</a:t>
            </a:r>
            <a:r>
              <a:rPr lang="pl-PL" sz="1700" b="1" dirty="0"/>
              <a:t> (splotu) </a:t>
            </a:r>
            <a:r>
              <a:rPr lang="pl-PL" sz="1700" dirty="0"/>
              <a:t>obrazu z każdą z masek </a:t>
            </a:r>
            <a:r>
              <a:rPr lang="pl-PL" sz="1700" b="1" dirty="0"/>
              <a:t>w kierunku X, Y </a:t>
            </a:r>
            <a:r>
              <a:rPr lang="pl-PL" sz="1700" dirty="0"/>
              <a:t>– intuicyjnie każda maska jest przesuwana po obrazie tak, aby środek filtru ustawiony był na aktualnie przetwarzanym pikselu, a następnie obliczamy wartość piksela wynikowego mnożąc poszczególne wagi filtra z otaczającymi pikselami.</a:t>
            </a:r>
          </a:p>
          <a:p>
            <a:pPr>
              <a:lnSpc>
                <a:spcPct val="100000"/>
              </a:lnSpc>
            </a:pPr>
            <a:r>
              <a:rPr lang="pl-PL" sz="1700" b="1" dirty="0"/>
              <a:t>Końcowy wynik (siłę krawędzi) </a:t>
            </a:r>
            <a:r>
              <a:rPr lang="pl-PL" sz="1700" dirty="0"/>
              <a:t>uzyskujemy obliczając pierwiastek z sumy kwadratów obu obrazów pośrednich – splotów </a:t>
            </a:r>
            <a:r>
              <a:rPr lang="pl-PL" sz="1700" b="1" dirty="0" err="1"/>
              <a:t>Gx</a:t>
            </a:r>
            <a:r>
              <a:rPr lang="pl-PL" sz="1700" b="1" dirty="0"/>
              <a:t> </a:t>
            </a:r>
            <a:r>
              <a:rPr lang="pl-PL" sz="1700" dirty="0"/>
              <a:t>oraz </a:t>
            </a:r>
            <a:r>
              <a:rPr lang="pl-PL" sz="1700" b="1" dirty="0" err="1"/>
              <a:t>Gy</a:t>
            </a:r>
            <a:endParaRPr lang="pl-PL" sz="1700" b="1" dirty="0"/>
          </a:p>
        </p:txBody>
      </p:sp>
      <p:pic>
        <p:nvPicPr>
          <p:cNvPr id="11" name="Obraz 10" descr="Obraz zawierający diagram&#10;&#10;Zawartość wygenerowana przez AI może być niepoprawna.">
            <a:extLst>
              <a:ext uri="{FF2B5EF4-FFF2-40B4-BE49-F238E27FC236}">
                <a16:creationId xmlns:a16="http://schemas.microsoft.com/office/drawing/2014/main" id="{4E242C4B-1AE0-1A58-6F90-F533D30DB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8743" y="3490152"/>
            <a:ext cx="1832656" cy="2387826"/>
          </a:xfrm>
          <a:prstGeom prst="rect">
            <a:avLst/>
          </a:prstGeom>
        </p:spPr>
      </p:pic>
      <p:pic>
        <p:nvPicPr>
          <p:cNvPr id="9" name="Obraz 8" descr="Obraz zawierający diagram, Wielobarwność, linia, design&#10;&#10;Zawartość wygenerowana przez AI może być niepoprawna.">
            <a:extLst>
              <a:ext uri="{FF2B5EF4-FFF2-40B4-BE49-F238E27FC236}">
                <a16:creationId xmlns:a16="http://schemas.microsoft.com/office/drawing/2014/main" id="{431C4013-D2CE-1C5C-9D9B-FE4FE9022D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530" y="1255069"/>
            <a:ext cx="4700383" cy="217392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152A91-2920-4848-A8BC-B15DA3245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872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B85916-FC7B-1C15-820A-333BA8D6F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 err="1"/>
              <a:t>Pipeline</a:t>
            </a:r>
            <a:r>
              <a:rPr lang="pl-PL" dirty="0"/>
              <a:t> detekcji krawędzi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F94D8BC-0B10-348B-F29E-0CB79377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Konwersja obrazu do </a:t>
            </a:r>
            <a:r>
              <a:rPr lang="pl-PL" b="1" dirty="0"/>
              <a:t>skali odcieni szarości </a:t>
            </a:r>
            <a:r>
              <a:rPr lang="pl-PL" dirty="0"/>
              <a:t>– I = 0.229R + 0.587G + 0.114B</a:t>
            </a:r>
          </a:p>
          <a:p>
            <a:r>
              <a:rPr lang="pl-PL" b="1" dirty="0"/>
              <a:t>Redukcja szumów</a:t>
            </a:r>
            <a:r>
              <a:rPr lang="pl-PL" dirty="0"/>
              <a:t> filtrem wygładzającym, np. filtr Gaussa 3x3.</a:t>
            </a:r>
          </a:p>
          <a:p>
            <a:r>
              <a:rPr lang="pl-PL" dirty="0"/>
              <a:t>Zastosowanie operatora </a:t>
            </a:r>
            <a:r>
              <a:rPr lang="pl-PL" dirty="0" err="1"/>
              <a:t>Sobel’a</a:t>
            </a:r>
            <a:r>
              <a:rPr lang="pl-PL" dirty="0"/>
              <a:t> w kierunku X – </a:t>
            </a:r>
            <a:r>
              <a:rPr lang="pl-PL" b="1" dirty="0"/>
              <a:t>wykrywanie pionowych krawędzi</a:t>
            </a:r>
            <a:r>
              <a:rPr lang="pl-PL" dirty="0"/>
              <a:t>.</a:t>
            </a:r>
          </a:p>
          <a:p>
            <a:r>
              <a:rPr lang="pl-PL" dirty="0"/>
              <a:t>Zastosowanie operatora </a:t>
            </a:r>
            <a:r>
              <a:rPr lang="pl-PL" dirty="0" err="1"/>
              <a:t>Sobel’a</a:t>
            </a:r>
            <a:r>
              <a:rPr lang="pl-PL" dirty="0"/>
              <a:t> w kierunku Y – </a:t>
            </a:r>
            <a:r>
              <a:rPr lang="pl-PL" b="1" dirty="0"/>
              <a:t>wykrywanie poziomych krawędzi</a:t>
            </a:r>
            <a:r>
              <a:rPr lang="pl-PL" dirty="0"/>
              <a:t>.</a:t>
            </a:r>
          </a:p>
          <a:p>
            <a:r>
              <a:rPr lang="pl-PL" dirty="0"/>
              <a:t>Obraz końcowy jako obliczona </a:t>
            </a:r>
            <a:r>
              <a:rPr lang="pl-PL" b="1" dirty="0"/>
              <a:t>moc gradientu G </a:t>
            </a:r>
            <a:r>
              <a:rPr lang="pl-PL" dirty="0"/>
              <a:t>– łączenie wyników z obu kierunków.</a:t>
            </a:r>
          </a:p>
          <a:p>
            <a:r>
              <a:rPr lang="pl-PL" dirty="0"/>
              <a:t>Zastosowanie </a:t>
            </a:r>
            <a:r>
              <a:rPr lang="pl-PL" b="1" dirty="0" err="1"/>
              <a:t>thresholdingu</a:t>
            </a:r>
            <a:r>
              <a:rPr lang="pl-PL" b="1" dirty="0"/>
              <a:t> binarnego </a:t>
            </a:r>
            <a:r>
              <a:rPr lang="pl-PL" dirty="0"/>
              <a:t>– zero-jedynkowe klasyfikowanie krawędzi na podstawie obranej jasności granicznej.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636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23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26507C8-9B33-0977-9904-6CB23BC0B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53" y="919186"/>
            <a:ext cx="10744394" cy="718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Przed i Po zastosowaniu filtra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E0AA8030-FA65-4B8E-8530-372EEE85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Obraz 3" descr="Obraz zawierający ciemność, czarne i białe, sylwetka, noc&#10;&#10;Zawartość wygenerowana przez AI może być niepoprawna.">
            <a:extLst>
              <a:ext uri="{FF2B5EF4-FFF2-40B4-BE49-F238E27FC236}">
                <a16:creationId xmlns:a16="http://schemas.microsoft.com/office/drawing/2014/main" id="{BBC47000-38C1-CA3E-3967-75B63E47A2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46" y="1949857"/>
            <a:ext cx="3330574" cy="4269967"/>
          </a:xfrm>
          <a:prstGeom prst="rect">
            <a:avLst/>
          </a:prstGeom>
        </p:spPr>
      </p:pic>
      <p:pic>
        <p:nvPicPr>
          <p:cNvPr id="37" name="Obraz 36" descr="Obraz zawierający szkic, wspinaczka, czarne i białe, rysowanie&#10;&#10;Zawartość wygenerowana przez AI może być niepoprawna.">
            <a:extLst>
              <a:ext uri="{FF2B5EF4-FFF2-40B4-BE49-F238E27FC236}">
                <a16:creationId xmlns:a16="http://schemas.microsoft.com/office/drawing/2014/main" id="{4846C342-3CCD-AF72-F336-757631B2A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7560" y="1949857"/>
            <a:ext cx="3330574" cy="4269967"/>
          </a:xfrm>
          <a:prstGeom prst="rect">
            <a:avLst/>
          </a:prstGeom>
        </p:spPr>
      </p:pic>
      <p:pic>
        <p:nvPicPr>
          <p:cNvPr id="33" name="Symbol zastępczy zawartości 32" descr="Obraz zawierający chmura, na wolnym powietrzu, niebo, ubrania&#10;&#10;Zawartość wygenerowana przez AI może być niepoprawna.">
            <a:extLst>
              <a:ext uri="{FF2B5EF4-FFF2-40B4-BE49-F238E27FC236}">
                <a16:creationId xmlns:a16="http://schemas.microsoft.com/office/drawing/2014/main" id="{2F7104EF-4281-07B7-730F-087ADCECA1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474" y="1949857"/>
            <a:ext cx="3330574" cy="426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30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9851D4B-6EAF-742E-6591-14AAA2E1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Źródła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09854E-3362-7AC4-06FE-69C609B54B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l-PL" dirty="0">
                <a:hlinkClick r:id="rId2"/>
              </a:rPr>
              <a:t>https://en.wikipedia.org/wiki/Sobel_operator</a:t>
            </a:r>
            <a:endParaRPr lang="pl-PL" dirty="0"/>
          </a:p>
          <a:p>
            <a:r>
              <a:rPr lang="pl-PL" dirty="0">
                <a:hlinkClick r:id="rId3"/>
              </a:rPr>
              <a:t>https://wmii.uwm.edu.pl/~mario/jsmallfib_top/upload/wdgm/zestaw10.pdf</a:t>
            </a:r>
            <a:endParaRPr lang="pl-PL" dirty="0"/>
          </a:p>
          <a:p>
            <a:r>
              <a:rPr lang="pl-PL" dirty="0">
                <a:hlinkClick r:id="rId4"/>
              </a:rPr>
              <a:t>https://home.agh.edu.pl/~dwornik/2023_IAD_Obrazy/AiPOC_03_filtracja.pdf</a:t>
            </a:r>
            <a:endParaRPr lang="pl-PL" dirty="0"/>
          </a:p>
          <a:p>
            <a:r>
              <a:rPr lang="pl-PL" dirty="0">
                <a:hlinkClick r:id="rId5"/>
              </a:rPr>
              <a:t>https://medium.com/analytics-vidhya/sobel-edge-filter-daf07a462ff4</a:t>
            </a:r>
            <a:endParaRPr lang="pl-PL" dirty="0"/>
          </a:p>
          <a:p>
            <a:r>
              <a:rPr lang="pl-PL" dirty="0">
                <a:hlinkClick r:id="rId6"/>
              </a:rPr>
              <a:t>https://nrsyed.com/2018/02/18/edge-detection-in-images-how-to-derive-the-sobel-operator/</a:t>
            </a:r>
            <a:endParaRPr lang="pl-PL" dirty="0"/>
          </a:p>
          <a:p>
            <a:r>
              <a:rPr lang="pl-PL" dirty="0">
                <a:hlinkClick r:id="rId7"/>
              </a:rPr>
              <a:t>https://www.youtube.com/watch?v=lOEBsQodtEQ&amp;list=PLGsiKe4eNSZBFNvj6fhi2jfzTkMKpzB-B&amp;index=9</a:t>
            </a:r>
            <a:endParaRPr lang="pl-PL" dirty="0"/>
          </a:p>
          <a:p>
            <a:r>
              <a:rPr lang="pl-PL" dirty="0">
                <a:hlinkClick r:id="rId8"/>
              </a:rPr>
              <a:t>https://www.youtube.com/watch?v=uihBwtPIBxM&amp;list=PLGsiKe4eNSZBFNvj6fhi2jfzTkMKpzB-B&amp;index=6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7636919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521</Words>
  <Application>Microsoft Office PowerPoint</Application>
  <PresentationFormat>Panoramiczny</PresentationFormat>
  <Paragraphs>30</Paragraphs>
  <Slides>7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7</vt:i4>
      </vt:variant>
    </vt:vector>
  </HeadingPairs>
  <TitlesOfParts>
    <vt:vector size="11" baseType="lpstr">
      <vt:lpstr>Arial</vt:lpstr>
      <vt:lpstr>Calisto MT</vt:lpstr>
      <vt:lpstr>Univers Condensed</vt:lpstr>
      <vt:lpstr>ChronicleVTI</vt:lpstr>
      <vt:lpstr>Detekcja krawędzi operatorem Sobel’a</vt:lpstr>
      <vt:lpstr>Opeartor sobel’a</vt:lpstr>
      <vt:lpstr>Podstawy matematyczne działania filtru oraz detekcji krawędzi</vt:lpstr>
      <vt:lpstr>Podstawy działania algorytmu</vt:lpstr>
      <vt:lpstr>Pipeline detekcji krawędzi</vt:lpstr>
      <vt:lpstr>Przed i Po zastosowaniu filtra</vt:lpstr>
      <vt:lpstr>Źródła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Igor Kotlarz (ik311936)</dc:creator>
  <cp:lastModifiedBy>Igor Kotlarz (ik311936)</cp:lastModifiedBy>
  <cp:revision>23</cp:revision>
  <dcterms:created xsi:type="dcterms:W3CDTF">2025-10-31T12:35:35Z</dcterms:created>
  <dcterms:modified xsi:type="dcterms:W3CDTF">2025-11-03T22:10:20Z</dcterms:modified>
</cp:coreProperties>
</file>